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254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324195-E809-4E41-9F7C-1397E03EFFB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57AA88-2144-4740-A310-CC58FDA200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Sent a POST request to the /api/v1/distribution/issue-voucher endpoint with a valid wallet ID, product ID, and reference number.</a:t>
          </a:r>
          <a:endParaRPr lang="en-US"/>
        </a:p>
      </dgm:t>
    </dgm:pt>
    <dgm:pt modelId="{3C94DD02-9528-4CF4-945A-5961E0FEEE48}" type="parTrans" cxnId="{6640D472-7CB3-4A92-9A75-41A9B741AE4D}">
      <dgm:prSet/>
      <dgm:spPr/>
      <dgm:t>
        <a:bodyPr/>
        <a:lstStyle/>
        <a:p>
          <a:endParaRPr lang="en-US"/>
        </a:p>
      </dgm:t>
    </dgm:pt>
    <dgm:pt modelId="{9CD5C7A5-5890-473B-A38A-E2DFE0DC4E38}" type="sibTrans" cxnId="{6640D472-7CB3-4A92-9A75-41A9B741AE4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91F1164-0C09-4B7C-8444-46C13CCBF7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The API returned a </a:t>
          </a:r>
          <a:r>
            <a:rPr lang="en-US" b="1" i="0"/>
            <a:t>201 Created</a:t>
          </a:r>
          <a:r>
            <a:rPr lang="en-US" b="0" i="0"/>
            <a:t> response with a status of </a:t>
          </a:r>
          <a:r>
            <a:rPr lang="en-US" b="1" i="0"/>
            <a:t>SUCCESS</a:t>
          </a:r>
          <a:r>
            <a:rPr lang="en-US" b="0" i="0"/>
            <a:t>, along with a generated voucher PIN and trace ID.</a:t>
          </a:r>
          <a:endParaRPr lang="en-US"/>
        </a:p>
      </dgm:t>
    </dgm:pt>
    <dgm:pt modelId="{C8D08C21-B62E-427B-8001-A81463860502}" type="parTrans" cxnId="{651ACA00-34AF-46A9-BCFA-7BF2AFE58421}">
      <dgm:prSet/>
      <dgm:spPr/>
      <dgm:t>
        <a:bodyPr/>
        <a:lstStyle/>
        <a:p>
          <a:endParaRPr lang="en-US"/>
        </a:p>
      </dgm:t>
    </dgm:pt>
    <dgm:pt modelId="{411DF076-BE57-483E-86C5-FBF22DE243D3}" type="sibTrans" cxnId="{651ACA00-34AF-46A9-BCFA-7BF2AFE58421}">
      <dgm:prSet/>
      <dgm:spPr/>
      <dgm:t>
        <a:bodyPr/>
        <a:lstStyle/>
        <a:p>
          <a:endParaRPr lang="en-US"/>
        </a:p>
      </dgm:t>
    </dgm:pt>
    <dgm:pt modelId="{F12286DE-C8A8-46FE-ACB2-3E39D64A0C65}" type="pres">
      <dgm:prSet presAssocID="{88324195-E809-4E41-9F7C-1397E03EFFB1}" presName="root" presStyleCnt="0">
        <dgm:presLayoutVars>
          <dgm:dir/>
          <dgm:resizeHandles val="exact"/>
        </dgm:presLayoutVars>
      </dgm:prSet>
      <dgm:spPr/>
    </dgm:pt>
    <dgm:pt modelId="{F170BA22-6D2E-46A1-87B7-8E92B8800D4A}" type="pres">
      <dgm:prSet presAssocID="{88324195-E809-4E41-9F7C-1397E03EFFB1}" presName="container" presStyleCnt="0">
        <dgm:presLayoutVars>
          <dgm:dir/>
          <dgm:resizeHandles val="exact"/>
        </dgm:presLayoutVars>
      </dgm:prSet>
      <dgm:spPr/>
    </dgm:pt>
    <dgm:pt modelId="{49E755CD-D248-4458-ACBC-F784087AB822}" type="pres">
      <dgm:prSet presAssocID="{DF57AA88-2144-4740-A310-CC58FDA200DE}" presName="compNode" presStyleCnt="0"/>
      <dgm:spPr/>
    </dgm:pt>
    <dgm:pt modelId="{1681C5A4-FAD2-4927-B5EE-44723103E58A}" type="pres">
      <dgm:prSet presAssocID="{DF57AA88-2144-4740-A310-CC58FDA200DE}" presName="iconBgRect" presStyleLbl="bgShp" presStyleIdx="0" presStyleCnt="2"/>
      <dgm:spPr/>
    </dgm:pt>
    <dgm:pt modelId="{BA3DD7AB-88C2-4857-B43C-594B67BF95F3}" type="pres">
      <dgm:prSet presAssocID="{DF57AA88-2144-4740-A310-CC58FDA200D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8A3C8E67-9604-46D4-B130-7C98C14E5E8F}" type="pres">
      <dgm:prSet presAssocID="{DF57AA88-2144-4740-A310-CC58FDA200DE}" presName="spaceRect" presStyleCnt="0"/>
      <dgm:spPr/>
    </dgm:pt>
    <dgm:pt modelId="{ACE07879-A3F4-4AE4-A862-58141E8CE6AF}" type="pres">
      <dgm:prSet presAssocID="{DF57AA88-2144-4740-A310-CC58FDA200DE}" presName="textRect" presStyleLbl="revTx" presStyleIdx="0" presStyleCnt="2">
        <dgm:presLayoutVars>
          <dgm:chMax val="1"/>
          <dgm:chPref val="1"/>
        </dgm:presLayoutVars>
      </dgm:prSet>
      <dgm:spPr/>
    </dgm:pt>
    <dgm:pt modelId="{4BB597CC-09C9-4D4A-AAB2-527A69F896E0}" type="pres">
      <dgm:prSet presAssocID="{9CD5C7A5-5890-473B-A38A-E2DFE0DC4E38}" presName="sibTrans" presStyleLbl="sibTrans2D1" presStyleIdx="0" presStyleCnt="0"/>
      <dgm:spPr/>
    </dgm:pt>
    <dgm:pt modelId="{E718BF1B-FB00-4A64-B5C4-7DAD8C20D3F7}" type="pres">
      <dgm:prSet presAssocID="{F91F1164-0C09-4B7C-8444-46C13CCBF76F}" presName="compNode" presStyleCnt="0"/>
      <dgm:spPr/>
    </dgm:pt>
    <dgm:pt modelId="{5C0919B9-F143-4190-871F-04AD5EFF124A}" type="pres">
      <dgm:prSet presAssocID="{F91F1164-0C09-4B7C-8444-46C13CCBF76F}" presName="iconBgRect" presStyleLbl="bgShp" presStyleIdx="1" presStyleCnt="2"/>
      <dgm:spPr/>
    </dgm:pt>
    <dgm:pt modelId="{610E848A-55FA-41D4-A21E-4150AF1664FE}" type="pres">
      <dgm:prSet presAssocID="{F91F1164-0C09-4B7C-8444-46C13CCBF76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BCE102FE-2012-43F2-8AFF-B38591C28731}" type="pres">
      <dgm:prSet presAssocID="{F91F1164-0C09-4B7C-8444-46C13CCBF76F}" presName="spaceRect" presStyleCnt="0"/>
      <dgm:spPr/>
    </dgm:pt>
    <dgm:pt modelId="{D667E738-39C0-4F22-92A3-90DE16D8EFD1}" type="pres">
      <dgm:prSet presAssocID="{F91F1164-0C09-4B7C-8444-46C13CCBF76F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51ACA00-34AF-46A9-BCFA-7BF2AFE58421}" srcId="{88324195-E809-4E41-9F7C-1397E03EFFB1}" destId="{F91F1164-0C09-4B7C-8444-46C13CCBF76F}" srcOrd="1" destOrd="0" parTransId="{C8D08C21-B62E-427B-8001-A81463860502}" sibTransId="{411DF076-BE57-483E-86C5-FBF22DE243D3}"/>
    <dgm:cxn modelId="{6640D472-7CB3-4A92-9A75-41A9B741AE4D}" srcId="{88324195-E809-4E41-9F7C-1397E03EFFB1}" destId="{DF57AA88-2144-4740-A310-CC58FDA200DE}" srcOrd="0" destOrd="0" parTransId="{3C94DD02-9528-4CF4-945A-5961E0FEEE48}" sibTransId="{9CD5C7A5-5890-473B-A38A-E2DFE0DC4E38}"/>
    <dgm:cxn modelId="{6D92F972-CE96-44A1-B011-61B5709392BE}" type="presOf" srcId="{F91F1164-0C09-4B7C-8444-46C13CCBF76F}" destId="{D667E738-39C0-4F22-92A3-90DE16D8EFD1}" srcOrd="0" destOrd="0" presId="urn:microsoft.com/office/officeart/2018/2/layout/IconCircleList"/>
    <dgm:cxn modelId="{9FFDFF99-AFC5-4511-82B4-448A692AB60D}" type="presOf" srcId="{DF57AA88-2144-4740-A310-CC58FDA200DE}" destId="{ACE07879-A3F4-4AE4-A862-58141E8CE6AF}" srcOrd="0" destOrd="0" presId="urn:microsoft.com/office/officeart/2018/2/layout/IconCircleList"/>
    <dgm:cxn modelId="{F09CFFC7-83A2-4771-A901-06AAF03D202E}" type="presOf" srcId="{88324195-E809-4E41-9F7C-1397E03EFFB1}" destId="{F12286DE-C8A8-46FE-ACB2-3E39D64A0C65}" srcOrd="0" destOrd="0" presId="urn:microsoft.com/office/officeart/2018/2/layout/IconCircleList"/>
    <dgm:cxn modelId="{C4F0B1D7-EC54-4B87-B6D7-58AE5168BB83}" type="presOf" srcId="{9CD5C7A5-5890-473B-A38A-E2DFE0DC4E38}" destId="{4BB597CC-09C9-4D4A-AAB2-527A69F896E0}" srcOrd="0" destOrd="0" presId="urn:microsoft.com/office/officeart/2018/2/layout/IconCircleList"/>
    <dgm:cxn modelId="{B22811BB-6FC9-4493-93D9-3F00817D9628}" type="presParOf" srcId="{F12286DE-C8A8-46FE-ACB2-3E39D64A0C65}" destId="{F170BA22-6D2E-46A1-87B7-8E92B8800D4A}" srcOrd="0" destOrd="0" presId="urn:microsoft.com/office/officeart/2018/2/layout/IconCircleList"/>
    <dgm:cxn modelId="{22060900-FC17-42AD-957A-B12D426D1EF2}" type="presParOf" srcId="{F170BA22-6D2E-46A1-87B7-8E92B8800D4A}" destId="{49E755CD-D248-4458-ACBC-F784087AB822}" srcOrd="0" destOrd="0" presId="urn:microsoft.com/office/officeart/2018/2/layout/IconCircleList"/>
    <dgm:cxn modelId="{404B915F-88F5-47EB-8542-79F9346E427E}" type="presParOf" srcId="{49E755CD-D248-4458-ACBC-F784087AB822}" destId="{1681C5A4-FAD2-4927-B5EE-44723103E58A}" srcOrd="0" destOrd="0" presId="urn:microsoft.com/office/officeart/2018/2/layout/IconCircleList"/>
    <dgm:cxn modelId="{96FD80EC-B2E0-4AEF-A1A6-3C343B193C70}" type="presParOf" srcId="{49E755CD-D248-4458-ACBC-F784087AB822}" destId="{BA3DD7AB-88C2-4857-B43C-594B67BF95F3}" srcOrd="1" destOrd="0" presId="urn:microsoft.com/office/officeart/2018/2/layout/IconCircleList"/>
    <dgm:cxn modelId="{D117D6D8-276B-4849-99AD-6966E8FCBF81}" type="presParOf" srcId="{49E755CD-D248-4458-ACBC-F784087AB822}" destId="{8A3C8E67-9604-46D4-B130-7C98C14E5E8F}" srcOrd="2" destOrd="0" presId="urn:microsoft.com/office/officeart/2018/2/layout/IconCircleList"/>
    <dgm:cxn modelId="{0F3FA737-645D-4470-A1B3-7BB675E5D5C1}" type="presParOf" srcId="{49E755CD-D248-4458-ACBC-F784087AB822}" destId="{ACE07879-A3F4-4AE4-A862-58141E8CE6AF}" srcOrd="3" destOrd="0" presId="urn:microsoft.com/office/officeart/2018/2/layout/IconCircleList"/>
    <dgm:cxn modelId="{5BB65E16-1AE2-4D72-A997-92266A70F93C}" type="presParOf" srcId="{F170BA22-6D2E-46A1-87B7-8E92B8800D4A}" destId="{4BB597CC-09C9-4D4A-AAB2-527A69F896E0}" srcOrd="1" destOrd="0" presId="urn:microsoft.com/office/officeart/2018/2/layout/IconCircleList"/>
    <dgm:cxn modelId="{B5DCB360-6433-49B5-AABF-85ABDB199CE2}" type="presParOf" srcId="{F170BA22-6D2E-46A1-87B7-8E92B8800D4A}" destId="{E718BF1B-FB00-4A64-B5C4-7DAD8C20D3F7}" srcOrd="2" destOrd="0" presId="urn:microsoft.com/office/officeart/2018/2/layout/IconCircleList"/>
    <dgm:cxn modelId="{016CBD87-8F8B-4C3D-9E98-DD11174704FD}" type="presParOf" srcId="{E718BF1B-FB00-4A64-B5C4-7DAD8C20D3F7}" destId="{5C0919B9-F143-4190-871F-04AD5EFF124A}" srcOrd="0" destOrd="0" presId="urn:microsoft.com/office/officeart/2018/2/layout/IconCircleList"/>
    <dgm:cxn modelId="{C8D792DF-876B-4047-93E1-1C5F17A408D1}" type="presParOf" srcId="{E718BF1B-FB00-4A64-B5C4-7DAD8C20D3F7}" destId="{610E848A-55FA-41D4-A21E-4150AF1664FE}" srcOrd="1" destOrd="0" presId="urn:microsoft.com/office/officeart/2018/2/layout/IconCircleList"/>
    <dgm:cxn modelId="{B1D252FC-06ED-4875-B46F-CAF29AE6DBF2}" type="presParOf" srcId="{E718BF1B-FB00-4A64-B5C4-7DAD8C20D3F7}" destId="{BCE102FE-2012-43F2-8AFF-B38591C28731}" srcOrd="2" destOrd="0" presId="urn:microsoft.com/office/officeart/2018/2/layout/IconCircleList"/>
    <dgm:cxn modelId="{7031A74A-A5EE-4E3E-BDB3-27269798A076}" type="presParOf" srcId="{E718BF1B-FB00-4A64-B5C4-7DAD8C20D3F7}" destId="{D667E738-39C0-4F22-92A3-90DE16D8EFD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324195-E809-4E41-9F7C-1397E03EFFB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F57AA88-2144-4740-A310-CC58FDA200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wallet we used had a balance of </a:t>
          </a:r>
          <a:r>
            <a:rPr lang="en-US" b="1" dirty="0"/>
            <a:t>R5.00</a:t>
          </a:r>
          <a:r>
            <a:rPr lang="en-US" dirty="0"/>
            <a:t>, while the product price was </a:t>
          </a:r>
          <a:r>
            <a:rPr lang="en-US" b="1" dirty="0"/>
            <a:t>R10.00</a:t>
          </a:r>
          <a:r>
            <a:rPr lang="en-US" dirty="0"/>
            <a:t>. When we sent the request to issue a voucher, the API still returned a </a:t>
          </a:r>
          <a:r>
            <a:rPr lang="en-US" b="1" dirty="0"/>
            <a:t>201 Created</a:t>
          </a:r>
          <a:r>
            <a:rPr lang="en-US" dirty="0"/>
            <a:t> response with a status of </a:t>
          </a:r>
          <a:r>
            <a:rPr lang="en-US" b="1" dirty="0"/>
            <a:t>SUCCESS</a:t>
          </a:r>
          <a:r>
            <a:rPr lang="en-US" dirty="0"/>
            <a:t> and generated a voucher</a:t>
          </a:r>
        </a:p>
      </dgm:t>
    </dgm:pt>
    <dgm:pt modelId="{3C94DD02-9528-4CF4-945A-5961E0FEEE48}" type="parTrans" cxnId="{6640D472-7CB3-4A92-9A75-41A9B741AE4D}">
      <dgm:prSet/>
      <dgm:spPr/>
      <dgm:t>
        <a:bodyPr/>
        <a:lstStyle/>
        <a:p>
          <a:endParaRPr lang="en-US"/>
        </a:p>
      </dgm:t>
    </dgm:pt>
    <dgm:pt modelId="{9CD5C7A5-5890-473B-A38A-E2DFE0DC4E38}" type="sibTrans" cxnId="{6640D472-7CB3-4A92-9A75-41A9B741AE4D}">
      <dgm:prSet/>
      <dgm:spPr/>
      <dgm:t>
        <a:bodyPr/>
        <a:lstStyle/>
        <a:p>
          <a:endParaRPr lang="en-US"/>
        </a:p>
      </dgm:t>
    </dgm:pt>
    <dgm:pt modelId="{F91F1164-0C09-4B7C-8444-46C13CCBF7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The system allowed the transaction even though the wallet did not have enough funds and the balance became negative.</a:t>
          </a:r>
        </a:p>
      </dgm:t>
    </dgm:pt>
    <dgm:pt modelId="{C8D08C21-B62E-427B-8001-A81463860502}" type="parTrans" cxnId="{651ACA00-34AF-46A9-BCFA-7BF2AFE58421}">
      <dgm:prSet/>
      <dgm:spPr/>
      <dgm:t>
        <a:bodyPr/>
        <a:lstStyle/>
        <a:p>
          <a:endParaRPr lang="en-US"/>
        </a:p>
      </dgm:t>
    </dgm:pt>
    <dgm:pt modelId="{411DF076-BE57-483E-86C5-FBF22DE243D3}" type="sibTrans" cxnId="{651ACA00-34AF-46A9-BCFA-7BF2AFE58421}">
      <dgm:prSet/>
      <dgm:spPr/>
      <dgm:t>
        <a:bodyPr/>
        <a:lstStyle/>
        <a:p>
          <a:endParaRPr lang="en-US"/>
        </a:p>
      </dgm:t>
    </dgm:pt>
    <dgm:pt modelId="{5D1B4116-E5CB-4CD7-8B8F-9FFE1BC634DE}" type="pres">
      <dgm:prSet presAssocID="{88324195-E809-4E41-9F7C-1397E03EFFB1}" presName="root" presStyleCnt="0">
        <dgm:presLayoutVars>
          <dgm:dir/>
          <dgm:resizeHandles val="exact"/>
        </dgm:presLayoutVars>
      </dgm:prSet>
      <dgm:spPr/>
    </dgm:pt>
    <dgm:pt modelId="{3C2F29B8-A55B-4E14-ABAE-ADB564270D61}" type="pres">
      <dgm:prSet presAssocID="{DF57AA88-2144-4740-A310-CC58FDA200DE}" presName="compNode" presStyleCnt="0"/>
      <dgm:spPr/>
    </dgm:pt>
    <dgm:pt modelId="{C2DB833A-F633-4091-A3FF-E10C3BEB5508}" type="pres">
      <dgm:prSet presAssocID="{DF57AA88-2144-4740-A310-CC58FDA200DE}" presName="bgRect" presStyleLbl="bgShp" presStyleIdx="0" presStyleCnt="2"/>
      <dgm:spPr/>
    </dgm:pt>
    <dgm:pt modelId="{D245D22D-5919-4C97-83A7-3D1DE8B28EE3}" type="pres">
      <dgm:prSet presAssocID="{DF57AA88-2144-4740-A310-CC58FDA200D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llet"/>
        </a:ext>
      </dgm:extLst>
    </dgm:pt>
    <dgm:pt modelId="{39F305BE-2DD4-4BB2-A12D-C8C2AD7F4E4B}" type="pres">
      <dgm:prSet presAssocID="{DF57AA88-2144-4740-A310-CC58FDA200DE}" presName="spaceRect" presStyleCnt="0"/>
      <dgm:spPr/>
    </dgm:pt>
    <dgm:pt modelId="{14109CB3-0A8B-4CCC-93CB-DD0B80D4ADFD}" type="pres">
      <dgm:prSet presAssocID="{DF57AA88-2144-4740-A310-CC58FDA200DE}" presName="parTx" presStyleLbl="revTx" presStyleIdx="0" presStyleCnt="2">
        <dgm:presLayoutVars>
          <dgm:chMax val="0"/>
          <dgm:chPref val="0"/>
        </dgm:presLayoutVars>
      </dgm:prSet>
      <dgm:spPr/>
    </dgm:pt>
    <dgm:pt modelId="{690F5F6B-00EE-46D1-B627-1FB65FD95BC3}" type="pres">
      <dgm:prSet presAssocID="{9CD5C7A5-5890-473B-A38A-E2DFE0DC4E38}" presName="sibTrans" presStyleCnt="0"/>
      <dgm:spPr/>
    </dgm:pt>
    <dgm:pt modelId="{1599F568-6A34-4E84-90C3-8626855A647B}" type="pres">
      <dgm:prSet presAssocID="{F91F1164-0C09-4B7C-8444-46C13CCBF76F}" presName="compNode" presStyleCnt="0"/>
      <dgm:spPr/>
    </dgm:pt>
    <dgm:pt modelId="{82B86247-97DB-4A53-B64D-5C3227FEE634}" type="pres">
      <dgm:prSet presAssocID="{F91F1164-0C09-4B7C-8444-46C13CCBF76F}" presName="bgRect" presStyleLbl="bgShp" presStyleIdx="1" presStyleCnt="2" custLinFactNeighborX="0" custLinFactNeighborY="30023"/>
      <dgm:spPr/>
    </dgm:pt>
    <dgm:pt modelId="{1742452A-20F0-4722-B589-77072FB2A8A9}" type="pres">
      <dgm:prSet presAssocID="{F91F1164-0C09-4B7C-8444-46C13CCBF76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796B4FF7-9983-4F47-9B49-D6B29079D76A}" type="pres">
      <dgm:prSet presAssocID="{F91F1164-0C09-4B7C-8444-46C13CCBF76F}" presName="spaceRect" presStyleCnt="0"/>
      <dgm:spPr/>
    </dgm:pt>
    <dgm:pt modelId="{8A41F6B4-256D-4FE6-B480-96A75AEB0410}" type="pres">
      <dgm:prSet presAssocID="{F91F1164-0C09-4B7C-8444-46C13CCBF76F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51ACA00-34AF-46A9-BCFA-7BF2AFE58421}" srcId="{88324195-E809-4E41-9F7C-1397E03EFFB1}" destId="{F91F1164-0C09-4B7C-8444-46C13CCBF76F}" srcOrd="1" destOrd="0" parTransId="{C8D08C21-B62E-427B-8001-A81463860502}" sibTransId="{411DF076-BE57-483E-86C5-FBF22DE243D3}"/>
    <dgm:cxn modelId="{9C354F5F-A4F7-430F-8F64-84C2510DD2FC}" type="presOf" srcId="{88324195-E809-4E41-9F7C-1397E03EFFB1}" destId="{5D1B4116-E5CB-4CD7-8B8F-9FFE1BC634DE}" srcOrd="0" destOrd="0" presId="urn:microsoft.com/office/officeart/2018/2/layout/IconVerticalSolidList"/>
    <dgm:cxn modelId="{6640D472-7CB3-4A92-9A75-41A9B741AE4D}" srcId="{88324195-E809-4E41-9F7C-1397E03EFFB1}" destId="{DF57AA88-2144-4740-A310-CC58FDA200DE}" srcOrd="0" destOrd="0" parTransId="{3C94DD02-9528-4CF4-945A-5961E0FEEE48}" sibTransId="{9CD5C7A5-5890-473B-A38A-E2DFE0DC4E38}"/>
    <dgm:cxn modelId="{189677BC-8DF6-4893-81E4-12A95DB45850}" type="presOf" srcId="{DF57AA88-2144-4740-A310-CC58FDA200DE}" destId="{14109CB3-0A8B-4CCC-93CB-DD0B80D4ADFD}" srcOrd="0" destOrd="0" presId="urn:microsoft.com/office/officeart/2018/2/layout/IconVerticalSolidList"/>
    <dgm:cxn modelId="{E29840F6-4822-4591-9898-8D2E687562D7}" type="presOf" srcId="{F91F1164-0C09-4B7C-8444-46C13CCBF76F}" destId="{8A41F6B4-256D-4FE6-B480-96A75AEB0410}" srcOrd="0" destOrd="0" presId="urn:microsoft.com/office/officeart/2018/2/layout/IconVerticalSolidList"/>
    <dgm:cxn modelId="{D8C86A26-E5A0-4544-A2BE-A5406CE176E7}" type="presParOf" srcId="{5D1B4116-E5CB-4CD7-8B8F-9FFE1BC634DE}" destId="{3C2F29B8-A55B-4E14-ABAE-ADB564270D61}" srcOrd="0" destOrd="0" presId="urn:microsoft.com/office/officeart/2018/2/layout/IconVerticalSolidList"/>
    <dgm:cxn modelId="{9641DA2E-4A8E-47CB-B7E6-F0F1EB18AB89}" type="presParOf" srcId="{3C2F29B8-A55B-4E14-ABAE-ADB564270D61}" destId="{C2DB833A-F633-4091-A3FF-E10C3BEB5508}" srcOrd="0" destOrd="0" presId="urn:microsoft.com/office/officeart/2018/2/layout/IconVerticalSolidList"/>
    <dgm:cxn modelId="{13B6FBB0-CB65-4BC2-A264-7AF9B89D0DAE}" type="presParOf" srcId="{3C2F29B8-A55B-4E14-ABAE-ADB564270D61}" destId="{D245D22D-5919-4C97-83A7-3D1DE8B28EE3}" srcOrd="1" destOrd="0" presId="urn:microsoft.com/office/officeart/2018/2/layout/IconVerticalSolidList"/>
    <dgm:cxn modelId="{39154726-C68F-460F-B735-A584026511A5}" type="presParOf" srcId="{3C2F29B8-A55B-4E14-ABAE-ADB564270D61}" destId="{39F305BE-2DD4-4BB2-A12D-C8C2AD7F4E4B}" srcOrd="2" destOrd="0" presId="urn:microsoft.com/office/officeart/2018/2/layout/IconVerticalSolidList"/>
    <dgm:cxn modelId="{D50F4EED-CC76-4E76-B2C5-989EDF38A2E2}" type="presParOf" srcId="{3C2F29B8-A55B-4E14-ABAE-ADB564270D61}" destId="{14109CB3-0A8B-4CCC-93CB-DD0B80D4ADFD}" srcOrd="3" destOrd="0" presId="urn:microsoft.com/office/officeart/2018/2/layout/IconVerticalSolidList"/>
    <dgm:cxn modelId="{1F9E39EC-6090-4DF4-8103-7A18B3DFBD9E}" type="presParOf" srcId="{5D1B4116-E5CB-4CD7-8B8F-9FFE1BC634DE}" destId="{690F5F6B-00EE-46D1-B627-1FB65FD95BC3}" srcOrd="1" destOrd="0" presId="urn:microsoft.com/office/officeart/2018/2/layout/IconVerticalSolidList"/>
    <dgm:cxn modelId="{FA58F936-60B9-4DB8-A90E-C5C000D977BD}" type="presParOf" srcId="{5D1B4116-E5CB-4CD7-8B8F-9FFE1BC634DE}" destId="{1599F568-6A34-4E84-90C3-8626855A647B}" srcOrd="2" destOrd="0" presId="urn:microsoft.com/office/officeart/2018/2/layout/IconVerticalSolidList"/>
    <dgm:cxn modelId="{9347A366-36C8-4182-A056-34DAF1EEFA7A}" type="presParOf" srcId="{1599F568-6A34-4E84-90C3-8626855A647B}" destId="{82B86247-97DB-4A53-B64D-5C3227FEE634}" srcOrd="0" destOrd="0" presId="urn:microsoft.com/office/officeart/2018/2/layout/IconVerticalSolidList"/>
    <dgm:cxn modelId="{5C6362E3-AD72-4C4A-938E-208DA8AE0C51}" type="presParOf" srcId="{1599F568-6A34-4E84-90C3-8626855A647B}" destId="{1742452A-20F0-4722-B589-77072FB2A8A9}" srcOrd="1" destOrd="0" presId="urn:microsoft.com/office/officeart/2018/2/layout/IconVerticalSolidList"/>
    <dgm:cxn modelId="{A7C2B663-950D-4F4F-8B02-822B2267D312}" type="presParOf" srcId="{1599F568-6A34-4E84-90C3-8626855A647B}" destId="{796B4FF7-9983-4F47-9B49-D6B29079D76A}" srcOrd="2" destOrd="0" presId="urn:microsoft.com/office/officeart/2018/2/layout/IconVerticalSolidList"/>
    <dgm:cxn modelId="{AC28E280-07E4-436B-B30B-D9606BC662AE}" type="presParOf" srcId="{1599F568-6A34-4E84-90C3-8626855A647B}" destId="{8A41F6B4-256D-4FE6-B480-96A75AEB04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A7227ED-3D2E-45A0-9974-668C78ADDE3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973D839-47C6-4F8B-BA57-110C9CB85B15}">
      <dgm:prSet/>
      <dgm:spPr/>
      <dgm:t>
        <a:bodyPr/>
        <a:lstStyle/>
        <a:p>
          <a:r>
            <a:rPr lang="en-US" b="0" i="0"/>
            <a:t>This important query checks for transactions in the ledger that do not have a corresponding voucher.</a:t>
          </a:r>
          <a:endParaRPr lang="en-US"/>
        </a:p>
      </dgm:t>
    </dgm:pt>
    <dgm:pt modelId="{B890D33C-7926-483F-9653-8C3A82C2E7CD}" type="parTrans" cxnId="{84BC9A74-4FEC-4BAF-BD26-CF66C19B525F}">
      <dgm:prSet/>
      <dgm:spPr/>
      <dgm:t>
        <a:bodyPr/>
        <a:lstStyle/>
        <a:p>
          <a:endParaRPr lang="en-US"/>
        </a:p>
      </dgm:t>
    </dgm:pt>
    <dgm:pt modelId="{9F9F33D7-8B17-4FBA-9028-E4CFC855B061}" type="sibTrans" cxnId="{84BC9A74-4FEC-4BAF-BD26-CF66C19B525F}">
      <dgm:prSet/>
      <dgm:spPr/>
      <dgm:t>
        <a:bodyPr/>
        <a:lstStyle/>
        <a:p>
          <a:endParaRPr lang="en-US"/>
        </a:p>
      </dgm:t>
    </dgm:pt>
    <dgm:pt modelId="{FDAB0967-B8B6-431D-965C-F3A940D08733}">
      <dgm:prSet/>
      <dgm:spPr/>
      <dgm:t>
        <a:bodyPr/>
        <a:lstStyle/>
        <a:p>
          <a:r>
            <a:rPr lang="en-US" b="0" i="0"/>
            <a:t>This is important because in a fintech system every completed transaction should result in a voucher being issued.</a:t>
          </a:r>
          <a:endParaRPr lang="en-US"/>
        </a:p>
      </dgm:t>
    </dgm:pt>
    <dgm:pt modelId="{C662E2B3-CDE2-434B-97B7-AC263A0ACB4A}" type="parTrans" cxnId="{D1A7F137-CF23-4FBF-AC83-3719D379A117}">
      <dgm:prSet/>
      <dgm:spPr/>
      <dgm:t>
        <a:bodyPr/>
        <a:lstStyle/>
        <a:p>
          <a:endParaRPr lang="en-US"/>
        </a:p>
      </dgm:t>
    </dgm:pt>
    <dgm:pt modelId="{8DABD62F-8AA2-4980-A535-35987254FC7A}" type="sibTrans" cxnId="{D1A7F137-CF23-4FBF-AC83-3719D379A117}">
      <dgm:prSet/>
      <dgm:spPr/>
      <dgm:t>
        <a:bodyPr/>
        <a:lstStyle/>
        <a:p>
          <a:endParaRPr lang="en-US"/>
        </a:p>
      </dgm:t>
    </dgm:pt>
    <dgm:pt modelId="{5DA1BBBD-EBD0-4199-90FD-BBCE2071D4A6}">
      <dgm:prSet/>
      <dgm:spPr/>
      <dgm:t>
        <a:bodyPr/>
        <a:lstStyle/>
        <a:p>
          <a:r>
            <a:rPr lang="en-US" b="0" i="0"/>
            <a:t>If this relationship is broken, it indicates potential financial inconsistencies.</a:t>
          </a:r>
          <a:endParaRPr lang="en-US"/>
        </a:p>
      </dgm:t>
    </dgm:pt>
    <dgm:pt modelId="{2ADF037B-C894-477A-A9B8-422082669D12}" type="parTrans" cxnId="{E759BBB8-049A-4EC0-B3A7-C9CDD55340AF}">
      <dgm:prSet/>
      <dgm:spPr/>
      <dgm:t>
        <a:bodyPr/>
        <a:lstStyle/>
        <a:p>
          <a:endParaRPr lang="en-US"/>
        </a:p>
      </dgm:t>
    </dgm:pt>
    <dgm:pt modelId="{8132FF0A-23C9-42B2-A8E0-BCCF665B5D48}" type="sibTrans" cxnId="{E759BBB8-049A-4EC0-B3A7-C9CDD55340AF}">
      <dgm:prSet/>
      <dgm:spPr/>
      <dgm:t>
        <a:bodyPr/>
        <a:lstStyle/>
        <a:p>
          <a:endParaRPr lang="en-US"/>
        </a:p>
      </dgm:t>
    </dgm:pt>
    <dgm:pt modelId="{BFB415DB-D924-425B-8B71-0EA860A91544}" type="pres">
      <dgm:prSet presAssocID="{5A7227ED-3D2E-45A0-9974-668C78ADDE3C}" presName="linear" presStyleCnt="0">
        <dgm:presLayoutVars>
          <dgm:animLvl val="lvl"/>
          <dgm:resizeHandles val="exact"/>
        </dgm:presLayoutVars>
      </dgm:prSet>
      <dgm:spPr/>
    </dgm:pt>
    <dgm:pt modelId="{0C2F5233-3CF1-4444-99EB-0804C81DE2AF}" type="pres">
      <dgm:prSet presAssocID="{5973D839-47C6-4F8B-BA57-110C9CB85B1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77AEB5F-5416-431E-A161-0BEEF7A1D2AF}" type="pres">
      <dgm:prSet presAssocID="{9F9F33D7-8B17-4FBA-9028-E4CFC855B061}" presName="spacer" presStyleCnt="0"/>
      <dgm:spPr/>
    </dgm:pt>
    <dgm:pt modelId="{EDBFD612-2362-4E2E-AD60-93AD2E6D0AE9}" type="pres">
      <dgm:prSet presAssocID="{FDAB0967-B8B6-431D-965C-F3A940D0873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595F49F4-7BC2-46FC-957D-066E4314CB4C}" type="pres">
      <dgm:prSet presAssocID="{8DABD62F-8AA2-4980-A535-35987254FC7A}" presName="spacer" presStyleCnt="0"/>
      <dgm:spPr/>
    </dgm:pt>
    <dgm:pt modelId="{F45C19D1-6D11-4014-8C7F-34D7B2E538B2}" type="pres">
      <dgm:prSet presAssocID="{5DA1BBBD-EBD0-4199-90FD-BBCE2071D4A6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6A151933-7034-45DA-A146-FCA24E4409A6}" type="presOf" srcId="{FDAB0967-B8B6-431D-965C-F3A940D08733}" destId="{EDBFD612-2362-4E2E-AD60-93AD2E6D0AE9}" srcOrd="0" destOrd="0" presId="urn:microsoft.com/office/officeart/2005/8/layout/vList2"/>
    <dgm:cxn modelId="{D1A7F137-CF23-4FBF-AC83-3719D379A117}" srcId="{5A7227ED-3D2E-45A0-9974-668C78ADDE3C}" destId="{FDAB0967-B8B6-431D-965C-F3A940D08733}" srcOrd="1" destOrd="0" parTransId="{C662E2B3-CDE2-434B-97B7-AC263A0ACB4A}" sibTransId="{8DABD62F-8AA2-4980-A535-35987254FC7A}"/>
    <dgm:cxn modelId="{3198335F-60D3-4BDF-8A21-EE4D891B544A}" type="presOf" srcId="{5A7227ED-3D2E-45A0-9974-668C78ADDE3C}" destId="{BFB415DB-D924-425B-8B71-0EA860A91544}" srcOrd="0" destOrd="0" presId="urn:microsoft.com/office/officeart/2005/8/layout/vList2"/>
    <dgm:cxn modelId="{0BC3A453-5A4F-49F7-9225-7A84C37EB080}" type="presOf" srcId="{5DA1BBBD-EBD0-4199-90FD-BBCE2071D4A6}" destId="{F45C19D1-6D11-4014-8C7F-34D7B2E538B2}" srcOrd="0" destOrd="0" presId="urn:microsoft.com/office/officeart/2005/8/layout/vList2"/>
    <dgm:cxn modelId="{84BC9A74-4FEC-4BAF-BD26-CF66C19B525F}" srcId="{5A7227ED-3D2E-45A0-9974-668C78ADDE3C}" destId="{5973D839-47C6-4F8B-BA57-110C9CB85B15}" srcOrd="0" destOrd="0" parTransId="{B890D33C-7926-483F-9653-8C3A82C2E7CD}" sibTransId="{9F9F33D7-8B17-4FBA-9028-E4CFC855B061}"/>
    <dgm:cxn modelId="{E759BBB8-049A-4EC0-B3A7-C9CDD55340AF}" srcId="{5A7227ED-3D2E-45A0-9974-668C78ADDE3C}" destId="{5DA1BBBD-EBD0-4199-90FD-BBCE2071D4A6}" srcOrd="2" destOrd="0" parTransId="{2ADF037B-C894-477A-A9B8-422082669D12}" sibTransId="{8132FF0A-23C9-42B2-A8E0-BCCF665B5D48}"/>
    <dgm:cxn modelId="{E7DEC1E3-A6D6-4A00-866F-11F28A346FFF}" type="presOf" srcId="{5973D839-47C6-4F8B-BA57-110C9CB85B15}" destId="{0C2F5233-3CF1-4444-99EB-0804C81DE2AF}" srcOrd="0" destOrd="0" presId="urn:microsoft.com/office/officeart/2005/8/layout/vList2"/>
    <dgm:cxn modelId="{9C52B380-79DA-4DB4-898A-FB7B44EBD347}" type="presParOf" srcId="{BFB415DB-D924-425B-8B71-0EA860A91544}" destId="{0C2F5233-3CF1-4444-99EB-0804C81DE2AF}" srcOrd="0" destOrd="0" presId="urn:microsoft.com/office/officeart/2005/8/layout/vList2"/>
    <dgm:cxn modelId="{16CE892E-4CA1-467A-AC65-52D11F639821}" type="presParOf" srcId="{BFB415DB-D924-425B-8B71-0EA860A91544}" destId="{777AEB5F-5416-431E-A161-0BEEF7A1D2AF}" srcOrd="1" destOrd="0" presId="urn:microsoft.com/office/officeart/2005/8/layout/vList2"/>
    <dgm:cxn modelId="{0D869AB3-6C70-4D53-A940-676F3EEAE8EA}" type="presParOf" srcId="{BFB415DB-D924-425B-8B71-0EA860A91544}" destId="{EDBFD612-2362-4E2E-AD60-93AD2E6D0AE9}" srcOrd="2" destOrd="0" presId="urn:microsoft.com/office/officeart/2005/8/layout/vList2"/>
    <dgm:cxn modelId="{6BF39A7B-B427-4E9D-B53E-E4565A2FAC20}" type="presParOf" srcId="{BFB415DB-D924-425B-8B71-0EA860A91544}" destId="{595F49F4-7BC2-46FC-957D-066E4314CB4C}" srcOrd="3" destOrd="0" presId="urn:microsoft.com/office/officeart/2005/8/layout/vList2"/>
    <dgm:cxn modelId="{F4830928-789A-4318-AD7C-334D5AF18D3E}" type="presParOf" srcId="{BFB415DB-D924-425B-8B71-0EA860A91544}" destId="{F45C19D1-6D11-4014-8C7F-34D7B2E538B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81C5A4-FAD2-4927-B5EE-44723103E58A}">
      <dsp:nvSpPr>
        <dsp:cNvPr id="0" name=""/>
        <dsp:cNvSpPr/>
      </dsp:nvSpPr>
      <dsp:spPr>
        <a:xfrm>
          <a:off x="490852" y="1535365"/>
          <a:ext cx="847338" cy="84733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DD7AB-88C2-4857-B43C-594B67BF95F3}">
      <dsp:nvSpPr>
        <dsp:cNvPr id="0" name=""/>
        <dsp:cNvSpPr/>
      </dsp:nvSpPr>
      <dsp:spPr>
        <a:xfrm>
          <a:off x="668793" y="1713306"/>
          <a:ext cx="491456" cy="4914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E07879-A3F4-4AE4-A862-58141E8CE6AF}">
      <dsp:nvSpPr>
        <dsp:cNvPr id="0" name=""/>
        <dsp:cNvSpPr/>
      </dsp:nvSpPr>
      <dsp:spPr>
        <a:xfrm>
          <a:off x="1519763" y="1535365"/>
          <a:ext cx="1997298" cy="847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Sent a POST request to the /api/v1/distribution/issue-voucher endpoint with a valid wallet ID, product ID, and reference number.</a:t>
          </a:r>
          <a:endParaRPr lang="en-US" sz="1100" kern="1200"/>
        </a:p>
      </dsp:txBody>
      <dsp:txXfrm>
        <a:off x="1519763" y="1535365"/>
        <a:ext cx="1997298" cy="847338"/>
      </dsp:txXfrm>
    </dsp:sp>
    <dsp:sp modelId="{5C0919B9-F143-4190-871F-04AD5EFF124A}">
      <dsp:nvSpPr>
        <dsp:cNvPr id="0" name=""/>
        <dsp:cNvSpPr/>
      </dsp:nvSpPr>
      <dsp:spPr>
        <a:xfrm>
          <a:off x="490852" y="2730395"/>
          <a:ext cx="847338" cy="847338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10E848A-55FA-41D4-A21E-4150AF1664FE}">
      <dsp:nvSpPr>
        <dsp:cNvPr id="0" name=""/>
        <dsp:cNvSpPr/>
      </dsp:nvSpPr>
      <dsp:spPr>
        <a:xfrm>
          <a:off x="668793" y="2908336"/>
          <a:ext cx="491456" cy="4914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7E738-39C0-4F22-92A3-90DE16D8EFD1}">
      <dsp:nvSpPr>
        <dsp:cNvPr id="0" name=""/>
        <dsp:cNvSpPr/>
      </dsp:nvSpPr>
      <dsp:spPr>
        <a:xfrm>
          <a:off x="1519763" y="2730395"/>
          <a:ext cx="1997298" cy="8473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/>
            <a:t>The API returned a </a:t>
          </a:r>
          <a:r>
            <a:rPr lang="en-US" sz="1100" b="1" i="0" kern="1200"/>
            <a:t>201 Created</a:t>
          </a:r>
          <a:r>
            <a:rPr lang="en-US" sz="1100" b="0" i="0" kern="1200"/>
            <a:t> response with a status of </a:t>
          </a:r>
          <a:r>
            <a:rPr lang="en-US" sz="1100" b="1" i="0" kern="1200"/>
            <a:t>SUCCESS</a:t>
          </a:r>
          <a:r>
            <a:rPr lang="en-US" sz="1100" b="0" i="0" kern="1200"/>
            <a:t>, along with a generated voucher PIN and trace ID.</a:t>
          </a:r>
          <a:endParaRPr lang="en-US" sz="1100" kern="1200"/>
        </a:p>
      </dsp:txBody>
      <dsp:txXfrm>
        <a:off x="1519763" y="2730395"/>
        <a:ext cx="1997298" cy="84733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B833A-F633-4091-A3FF-E10C3BEB5508}">
      <dsp:nvSpPr>
        <dsp:cNvPr id="0" name=""/>
        <dsp:cNvSpPr/>
      </dsp:nvSpPr>
      <dsp:spPr>
        <a:xfrm>
          <a:off x="0" y="408"/>
          <a:ext cx="4091489" cy="796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5D22D-5919-4C97-83A7-3D1DE8B28EE3}">
      <dsp:nvSpPr>
        <dsp:cNvPr id="0" name=""/>
        <dsp:cNvSpPr/>
      </dsp:nvSpPr>
      <dsp:spPr>
        <a:xfrm>
          <a:off x="24090" y="18327"/>
          <a:ext cx="43801" cy="438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09CB3-0A8B-4CCC-93CB-DD0B80D4ADFD}">
      <dsp:nvSpPr>
        <dsp:cNvPr id="0" name=""/>
        <dsp:cNvSpPr/>
      </dsp:nvSpPr>
      <dsp:spPr>
        <a:xfrm>
          <a:off x="91982" y="408"/>
          <a:ext cx="3702350" cy="1592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68" tIns="168568" rIns="168568" bIns="1685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wallet we used had a balance of </a:t>
          </a:r>
          <a:r>
            <a:rPr lang="en-US" sz="1400" b="1" kern="1200" dirty="0"/>
            <a:t>R5.00</a:t>
          </a:r>
          <a:r>
            <a:rPr lang="en-US" sz="1400" kern="1200" dirty="0"/>
            <a:t>, while the product price was </a:t>
          </a:r>
          <a:r>
            <a:rPr lang="en-US" sz="1400" b="1" kern="1200" dirty="0"/>
            <a:t>R10.00</a:t>
          </a:r>
          <a:r>
            <a:rPr lang="en-US" sz="1400" kern="1200" dirty="0"/>
            <a:t>. When we sent the request to issue a voucher, the API still returned a </a:t>
          </a:r>
          <a:r>
            <a:rPr lang="en-US" sz="1400" b="1" kern="1200" dirty="0"/>
            <a:t>201 Created</a:t>
          </a:r>
          <a:r>
            <a:rPr lang="en-US" sz="1400" kern="1200" dirty="0"/>
            <a:t> response with a status of </a:t>
          </a:r>
          <a:r>
            <a:rPr lang="en-US" sz="1400" b="1" kern="1200" dirty="0"/>
            <a:t>SUCCESS</a:t>
          </a:r>
          <a:r>
            <a:rPr lang="en-US" sz="1400" kern="1200" dirty="0"/>
            <a:t> and generated a voucher</a:t>
          </a:r>
        </a:p>
      </dsp:txBody>
      <dsp:txXfrm>
        <a:off x="91982" y="408"/>
        <a:ext cx="3702350" cy="1592767"/>
      </dsp:txXfrm>
    </dsp:sp>
    <dsp:sp modelId="{82B86247-97DB-4A53-B64D-5C3227FEE634}">
      <dsp:nvSpPr>
        <dsp:cNvPr id="0" name=""/>
        <dsp:cNvSpPr/>
      </dsp:nvSpPr>
      <dsp:spPr>
        <a:xfrm>
          <a:off x="0" y="1776362"/>
          <a:ext cx="4091489" cy="7963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42452A-20F0-4722-B589-77072FB2A8A9}">
      <dsp:nvSpPr>
        <dsp:cNvPr id="0" name=""/>
        <dsp:cNvSpPr/>
      </dsp:nvSpPr>
      <dsp:spPr>
        <a:xfrm>
          <a:off x="24090" y="1770370"/>
          <a:ext cx="43801" cy="438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1F6B4-256D-4FE6-B480-96A75AEB0410}">
      <dsp:nvSpPr>
        <dsp:cNvPr id="0" name=""/>
        <dsp:cNvSpPr/>
      </dsp:nvSpPr>
      <dsp:spPr>
        <a:xfrm>
          <a:off x="91982" y="1752452"/>
          <a:ext cx="3702350" cy="1592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8568" tIns="168568" rIns="168568" bIns="168568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The system allowed the transaction even though the wallet did not have enough funds and the balance became negative.</a:t>
          </a:r>
        </a:p>
      </dsp:txBody>
      <dsp:txXfrm>
        <a:off x="91982" y="1752452"/>
        <a:ext cx="3702350" cy="159276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2F5233-3CF1-4444-99EB-0804C81DE2AF}">
      <dsp:nvSpPr>
        <dsp:cNvPr id="0" name=""/>
        <dsp:cNvSpPr/>
      </dsp:nvSpPr>
      <dsp:spPr>
        <a:xfrm>
          <a:off x="0" y="103572"/>
          <a:ext cx="4395788" cy="1356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This important query checks for transactions in the ledger that do not have a corresponding voucher.</a:t>
          </a:r>
          <a:endParaRPr lang="en-US" sz="1900" kern="1200"/>
        </a:p>
      </dsp:txBody>
      <dsp:txXfrm>
        <a:off x="66196" y="169768"/>
        <a:ext cx="4263396" cy="1223637"/>
      </dsp:txXfrm>
    </dsp:sp>
    <dsp:sp modelId="{EDBFD612-2362-4E2E-AD60-93AD2E6D0AE9}">
      <dsp:nvSpPr>
        <dsp:cNvPr id="0" name=""/>
        <dsp:cNvSpPr/>
      </dsp:nvSpPr>
      <dsp:spPr>
        <a:xfrm>
          <a:off x="0" y="1514322"/>
          <a:ext cx="4395788" cy="1356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This is important because in a fintech system every completed transaction should result in a voucher being issued.</a:t>
          </a:r>
          <a:endParaRPr lang="en-US" sz="1900" kern="1200"/>
        </a:p>
      </dsp:txBody>
      <dsp:txXfrm>
        <a:off x="66196" y="1580518"/>
        <a:ext cx="4263396" cy="1223637"/>
      </dsp:txXfrm>
    </dsp:sp>
    <dsp:sp modelId="{F45C19D1-6D11-4014-8C7F-34D7B2E538B2}">
      <dsp:nvSpPr>
        <dsp:cNvPr id="0" name=""/>
        <dsp:cNvSpPr/>
      </dsp:nvSpPr>
      <dsp:spPr>
        <a:xfrm>
          <a:off x="0" y="2925072"/>
          <a:ext cx="4395788" cy="13560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If this relationship is broken, it indicates potential financial inconsistencies.</a:t>
          </a:r>
          <a:endParaRPr lang="en-US" sz="1900" kern="1200"/>
        </a:p>
      </dsp:txBody>
      <dsp:txXfrm>
        <a:off x="66196" y="2991268"/>
        <a:ext cx="4263396" cy="12236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59A9D-8611-4DB9-A3F3-46200956E39C}" type="datetimeFigureOut">
              <a:rPr lang="en-ZA" smtClean="0"/>
              <a:t>2026/03/08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93EC6-86EE-4389-8F15-D9560978FA7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2346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93EC6-86EE-4389-8F15-D9560978FA7F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6523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2080-BF3F-EA54-A4AB-064DC7821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2E5CCC-A44D-A352-A48C-24407E5FE5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38FCC-7F43-F631-43E5-B06B761B7B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0A70D-FCDE-37CC-48DA-A194C5032C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93EC6-86EE-4389-8F15-D9560978FA7F}" type="slidenum">
              <a:rPr lang="en-ZA" smtClean="0"/>
              <a:t>4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593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0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726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9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1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096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85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11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97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25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0942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6851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56150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987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886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3497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2427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7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616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9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4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6A81905-F480-46A4-BC10-215D24EA1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D7817-F76A-C0E9-0603-5969A96F5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2012" y="1447800"/>
            <a:ext cx="5222325" cy="3329581"/>
          </a:xfrm>
        </p:spPr>
        <p:txBody>
          <a:bodyPr>
            <a:normAutofit/>
          </a:bodyPr>
          <a:lstStyle/>
          <a:p>
            <a:r>
              <a:rPr lang="en-ZA" sz="6700">
                <a:solidFill>
                  <a:srgbClr val="EBEBEB"/>
                </a:solidFill>
              </a:rPr>
              <a:t>KOBO FINTECH QE PROJECT</a:t>
            </a:r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36FD4D9D-3784-41E8-8405-A42B72F5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5692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EAE438-80F3-6B15-5C8B-6DB32CDE5B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222" r="6540" b="-1"/>
          <a:stretch>
            <a:fillRect/>
          </a:stretch>
        </p:blipFill>
        <p:spPr>
          <a:xfrm>
            <a:off x="20" y="10"/>
            <a:ext cx="4481944" cy="6857990"/>
          </a:xfrm>
          <a:custGeom>
            <a:avLst/>
            <a:gdLst/>
            <a:ahLst/>
            <a:cxnLst/>
            <a:rect l="l" t="t" r="r" b="b"/>
            <a:pathLst>
              <a:path w="4481964" h="6858000">
                <a:moveTo>
                  <a:pt x="0" y="0"/>
                </a:moveTo>
                <a:lnTo>
                  <a:pt x="3137249" y="0"/>
                </a:lnTo>
                <a:lnTo>
                  <a:pt x="4480787" y="0"/>
                </a:lnTo>
                <a:lnTo>
                  <a:pt x="4455742" y="155676"/>
                </a:lnTo>
                <a:lnTo>
                  <a:pt x="4431873" y="310667"/>
                </a:lnTo>
                <a:lnTo>
                  <a:pt x="4408509" y="466344"/>
                </a:lnTo>
                <a:lnTo>
                  <a:pt x="4388506" y="622706"/>
                </a:lnTo>
                <a:lnTo>
                  <a:pt x="4368335" y="778383"/>
                </a:lnTo>
                <a:lnTo>
                  <a:pt x="4349509" y="934745"/>
                </a:lnTo>
                <a:lnTo>
                  <a:pt x="4333373" y="1089050"/>
                </a:lnTo>
                <a:lnTo>
                  <a:pt x="4318077" y="1245413"/>
                </a:lnTo>
                <a:lnTo>
                  <a:pt x="4304125" y="1401089"/>
                </a:lnTo>
                <a:lnTo>
                  <a:pt x="4292023" y="1554023"/>
                </a:lnTo>
                <a:lnTo>
                  <a:pt x="4279920" y="1709013"/>
                </a:lnTo>
                <a:lnTo>
                  <a:pt x="4269835" y="1861947"/>
                </a:lnTo>
                <a:lnTo>
                  <a:pt x="4261935" y="2014880"/>
                </a:lnTo>
                <a:lnTo>
                  <a:pt x="4253698" y="2167128"/>
                </a:lnTo>
                <a:lnTo>
                  <a:pt x="4246807" y="2318004"/>
                </a:lnTo>
                <a:lnTo>
                  <a:pt x="4241932" y="2467508"/>
                </a:lnTo>
                <a:lnTo>
                  <a:pt x="4237730" y="2617013"/>
                </a:lnTo>
                <a:lnTo>
                  <a:pt x="4233696" y="2765145"/>
                </a:lnTo>
                <a:lnTo>
                  <a:pt x="4231847" y="2911221"/>
                </a:lnTo>
                <a:lnTo>
                  <a:pt x="4229830" y="3057296"/>
                </a:lnTo>
                <a:lnTo>
                  <a:pt x="4228821" y="3201314"/>
                </a:lnTo>
                <a:lnTo>
                  <a:pt x="4229830" y="3343960"/>
                </a:lnTo>
                <a:lnTo>
                  <a:pt x="4229830" y="3485235"/>
                </a:lnTo>
                <a:lnTo>
                  <a:pt x="4231847" y="3625138"/>
                </a:lnTo>
                <a:lnTo>
                  <a:pt x="4234872" y="3762298"/>
                </a:lnTo>
                <a:lnTo>
                  <a:pt x="4237730" y="3898087"/>
                </a:lnTo>
                <a:lnTo>
                  <a:pt x="4240924" y="4031132"/>
                </a:lnTo>
                <a:lnTo>
                  <a:pt x="4245798" y="4163491"/>
                </a:lnTo>
                <a:lnTo>
                  <a:pt x="4251009" y="4293793"/>
                </a:lnTo>
                <a:lnTo>
                  <a:pt x="4255715" y="4421352"/>
                </a:lnTo>
                <a:lnTo>
                  <a:pt x="4268995" y="4670298"/>
                </a:lnTo>
                <a:lnTo>
                  <a:pt x="4283114" y="4908956"/>
                </a:lnTo>
                <a:lnTo>
                  <a:pt x="4297906" y="5138013"/>
                </a:lnTo>
                <a:lnTo>
                  <a:pt x="4314211" y="5354726"/>
                </a:lnTo>
                <a:lnTo>
                  <a:pt x="4331188" y="5561838"/>
                </a:lnTo>
                <a:lnTo>
                  <a:pt x="4349509" y="5753862"/>
                </a:lnTo>
                <a:lnTo>
                  <a:pt x="4367495" y="5934227"/>
                </a:lnTo>
                <a:lnTo>
                  <a:pt x="4385480" y="6100191"/>
                </a:lnTo>
                <a:lnTo>
                  <a:pt x="4402457" y="6252438"/>
                </a:lnTo>
                <a:lnTo>
                  <a:pt x="4418594" y="6387541"/>
                </a:lnTo>
                <a:lnTo>
                  <a:pt x="4433890" y="6509613"/>
                </a:lnTo>
                <a:lnTo>
                  <a:pt x="4446665" y="6612483"/>
                </a:lnTo>
                <a:lnTo>
                  <a:pt x="4458767" y="6698894"/>
                </a:lnTo>
                <a:lnTo>
                  <a:pt x="4476081" y="6817538"/>
                </a:lnTo>
                <a:lnTo>
                  <a:pt x="4481964" y="6858000"/>
                </a:lnTo>
                <a:lnTo>
                  <a:pt x="357780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0817A52-B891-4228-A61E-0C0A5763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12150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540BD2-9BD7-7BA9-55DC-6BD96E6BC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16684"/>
          </a:xfrm>
        </p:spPr>
        <p:txBody>
          <a:bodyPr/>
          <a:lstStyle/>
          <a:p>
            <a:r>
              <a:rPr lang="en-US" sz="3600" dirty="0"/>
              <a:t>Team Workflow and Git Contributions</a:t>
            </a:r>
            <a:endParaRPr lang="en-ZA" sz="3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92D04-6172-EB94-3A3F-D5029D6D0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6111" y="1364841"/>
            <a:ext cx="4396338" cy="576262"/>
          </a:xfrm>
        </p:spPr>
        <p:txBody>
          <a:bodyPr>
            <a:normAutofit fontScale="85000" lnSpcReduction="10000"/>
          </a:bodyPr>
          <a:lstStyle/>
          <a:p>
            <a:r>
              <a:rPr lang="en-ZA" dirty="0"/>
              <a:t>Repo created with 3 branches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807AE4A-86BD-951C-E522-96AC62D3B9F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7576" y="2141378"/>
            <a:ext cx="6368528" cy="452836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BF4E43-08E8-C454-CECB-993CC7FA82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08397" y="1364841"/>
            <a:ext cx="4396339" cy="576262"/>
          </a:xfrm>
        </p:spPr>
        <p:txBody>
          <a:bodyPr>
            <a:normAutofit fontScale="85000" lnSpcReduction="10000"/>
          </a:bodyPr>
          <a:lstStyle/>
          <a:p>
            <a:r>
              <a:rPr lang="en-ZA" dirty="0"/>
              <a:t>Each task committed separately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76545F6-3462-EAA7-8905-3D6706437CE7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852621" y="2141377"/>
            <a:ext cx="5231803" cy="452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099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AFE16-4D41-318C-4319-7C0A00374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2347"/>
          </a:xfrm>
        </p:spPr>
        <p:txBody>
          <a:bodyPr/>
          <a:lstStyle/>
          <a:p>
            <a:r>
              <a:rPr lang="en-ZA" sz="3600" dirty="0"/>
              <a:t>Postman Automation demo and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B108D3-A5BA-6CA7-8F0C-530C63503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7035" y="1185068"/>
            <a:ext cx="5183188" cy="559834"/>
          </a:xfrm>
        </p:spPr>
        <p:txBody>
          <a:bodyPr/>
          <a:lstStyle/>
          <a:p>
            <a:pPr algn="r"/>
            <a:r>
              <a:rPr lang="en-ZA" dirty="0"/>
              <a:t>Successful voucher issuance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1840B43-BFFF-3BB1-52C3-823F6B662D6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118335" y="2011680"/>
            <a:ext cx="8065750" cy="4733365"/>
          </a:xfrm>
          <a:prstGeom prst="rect">
            <a:avLst/>
          </a:prstGeom>
        </p:spPr>
      </p:pic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09CF5213-4415-0433-04AC-EC535090A94E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792834154"/>
              </p:ext>
            </p:extLst>
          </p:nvPr>
        </p:nvGraphicFramePr>
        <p:xfrm>
          <a:off x="8184085" y="1744902"/>
          <a:ext cx="4007915" cy="5113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89675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2B0B-31C2-CC7D-0AEC-39881CE75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9D677-3E56-5CF7-F3F3-0CAC1BFA7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52721"/>
            <a:ext cx="9404723" cy="559834"/>
          </a:xfrm>
        </p:spPr>
        <p:txBody>
          <a:bodyPr/>
          <a:lstStyle/>
          <a:p>
            <a:r>
              <a:rPr lang="en-ZA" sz="3600" dirty="0"/>
              <a:t>Postman Automation demo and 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4769F-BB0B-5A9C-1B4B-833412DC0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1280" y="1185067"/>
            <a:ext cx="5183188" cy="559834"/>
          </a:xfrm>
        </p:spPr>
        <p:txBody>
          <a:bodyPr/>
          <a:lstStyle/>
          <a:p>
            <a:pPr algn="r"/>
            <a:r>
              <a:rPr lang="en-ZA" dirty="0"/>
              <a:t>Low wallet balance transaction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D409A42-3C5F-0BD7-37DA-FB63BF04AC7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0" y="1850315"/>
            <a:ext cx="8100509" cy="5007685"/>
          </a:xfrm>
          <a:prstGeom prst="rect">
            <a:avLst/>
          </a:prstGeom>
        </p:spPr>
      </p:pic>
      <p:graphicFrame>
        <p:nvGraphicFramePr>
          <p:cNvPr id="12" name="Content Placeholder 5">
            <a:extLst>
              <a:ext uri="{FF2B5EF4-FFF2-40B4-BE49-F238E27FC236}">
                <a16:creationId xmlns:a16="http://schemas.microsoft.com/office/drawing/2014/main" id="{9185B2CE-554F-1723-2DD7-53FB0915BE64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727833809"/>
              </p:ext>
            </p:extLst>
          </p:nvPr>
        </p:nvGraphicFramePr>
        <p:xfrm>
          <a:off x="8100509" y="1850316"/>
          <a:ext cx="4091489" cy="3345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43743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A8383-BB24-CB9E-D88B-360E36985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052" y="104140"/>
            <a:ext cx="9404723" cy="816362"/>
          </a:xfrm>
        </p:spPr>
        <p:txBody>
          <a:bodyPr/>
          <a:lstStyle/>
          <a:p>
            <a:r>
              <a:rPr lang="en-ZA" sz="3600" dirty="0"/>
              <a:t>Red Flag SQL Query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FE295-FCB9-BF6F-CF4C-CA41B2446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31359" y="920502"/>
            <a:ext cx="4396338" cy="576262"/>
          </a:xfrm>
        </p:spPr>
        <p:txBody>
          <a:bodyPr/>
          <a:lstStyle/>
          <a:p>
            <a:r>
              <a:rPr lang="en-ZA" dirty="0"/>
              <a:t>Reconciliation query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F3AA34B-C832-6CBC-08B8-857303FBB4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" y="2020608"/>
            <a:ext cx="7713232" cy="4670648"/>
          </a:xfrm>
          <a:prstGeom prst="rect">
            <a:avLst/>
          </a:prstGeom>
        </p:spPr>
      </p:pic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F6DF39B0-FB68-2147-B4E0-EB34DF38A50C}"/>
              </a:ext>
            </a:extLst>
          </p:cNvPr>
          <p:cNvGraphicFramePr>
            <a:graphicFrameLocks noGrp="1"/>
          </p:cNvGraphicFramePr>
          <p:nvPr>
            <p:ph sz="quarter" idx="4"/>
          </p:nvPr>
        </p:nvGraphicFramePr>
        <p:xfrm>
          <a:off x="7796212" y="2020607"/>
          <a:ext cx="4395788" cy="4384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33236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69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3" name="Picture 72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69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3F2EAD-D1AE-CFD5-2AF2-22A065451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US"/>
              <a:t>Top 3 System Flaws Discovered</a:t>
            </a:r>
            <a:endParaRPr lang="en-ZA"/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FECD8473-CBC6-8F14-5837-C10B76EBE05A}"/>
              </a:ext>
            </a:extLst>
          </p:cNvPr>
          <p:cNvSpPr>
            <a:spLocks noGrp="1"/>
          </p:cNvSpPr>
          <p:nvPr>
            <p:ph idx="1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4975861" y="1613648"/>
            <a:ext cx="6399930" cy="4012602"/>
          </a:xfrm>
        </p:spPr>
        <p:txBody>
          <a:bodyPr>
            <a:normAutofit/>
          </a:bodyPr>
          <a:lstStyle/>
          <a:p>
            <a:pPr>
              <a:spcBef>
                <a:spcPts val="2500"/>
              </a:spcBef>
            </a:pPr>
            <a:r>
              <a:rPr lang="en-US" sz="1800" b="1" dirty="0"/>
              <a:t>No Balance Validation</a:t>
            </a:r>
          </a:p>
          <a:p>
            <a:pPr marL="0" indent="0">
              <a:spcBef>
                <a:spcPts val="2500"/>
              </a:spcBef>
              <a:buNone/>
            </a:pPr>
            <a:r>
              <a:rPr lang="en-US" sz="1400" b="1" dirty="0"/>
              <a:t>Wallet balance is not checked before voucher issuance.</a:t>
            </a:r>
          </a:p>
          <a:p>
            <a:pPr>
              <a:spcBef>
                <a:spcPts val="2500"/>
              </a:spcBef>
            </a:pPr>
            <a:r>
              <a:rPr lang="en-US" sz="1800" b="1" dirty="0"/>
              <a:t>Disabled users can still transact</a:t>
            </a:r>
          </a:p>
          <a:p>
            <a:pPr marL="0" lvl="1" indent="0">
              <a:buNone/>
            </a:pPr>
            <a:r>
              <a:rPr lang="en-ZA" sz="1400" dirty="0"/>
              <a:t>The system does not verify user service status.</a:t>
            </a:r>
            <a:endParaRPr sz="1400" dirty="0"/>
          </a:p>
          <a:p>
            <a:pPr>
              <a:spcBef>
                <a:spcPts val="2500"/>
              </a:spcBef>
              <a:buFont typeface="Wingdings" panose="05000000000000000000" pitchFamily="2" charset="2"/>
              <a:buChar char="Ø"/>
            </a:pPr>
            <a:r>
              <a:rPr lang="en-ZA" sz="1800" b="1" dirty="0"/>
              <a:t>No data Transaction Handling</a:t>
            </a:r>
          </a:p>
          <a:p>
            <a:pPr marL="0" lvl="1" indent="0">
              <a:buNone/>
            </a:pPr>
            <a:r>
              <a:rPr lang="en-ZA" sz="1400" dirty="0"/>
              <a:t>If the system fails during processing, financial data may become inconsistent</a:t>
            </a:r>
          </a:p>
        </p:txBody>
      </p:sp>
    </p:spTree>
    <p:extLst>
      <p:ext uri="{BB962C8B-B14F-4D97-AF65-F5344CB8AC3E}">
        <p14:creationId xmlns:p14="http://schemas.microsoft.com/office/powerpoint/2010/main" val="321563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10C9F-3A47-96BB-DDD1-E121840AA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ZA"/>
              <a:t>Answers to Task Questions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F6FD312-1268-45B9-87C6-C2CF07C284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9837609"/>
              </p:ext>
            </p:extLst>
          </p:nvPr>
        </p:nvGraphicFramePr>
        <p:xfrm>
          <a:off x="876951" y="2237362"/>
          <a:ext cx="8942672" cy="404670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4804652">
                  <a:extLst>
                    <a:ext uri="{9D8B030D-6E8A-4147-A177-3AD203B41FA5}">
                      <a16:colId xmlns:a16="http://schemas.microsoft.com/office/drawing/2014/main" val="2747390363"/>
                    </a:ext>
                  </a:extLst>
                </a:gridCol>
                <a:gridCol w="4138020">
                  <a:extLst>
                    <a:ext uri="{9D8B030D-6E8A-4147-A177-3AD203B41FA5}">
                      <a16:colId xmlns:a16="http://schemas.microsoft.com/office/drawing/2014/main" val="1957989732"/>
                    </a:ext>
                  </a:extLst>
                </a:gridCol>
              </a:tblGrid>
              <a:tr h="1651487">
                <a:tc>
                  <a:txBody>
                    <a:bodyPr/>
                    <a:lstStyle/>
                    <a:p>
                      <a:r>
                        <a:rPr lang="en-ZA" sz="1500" b="1" kern="120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 1 Question: If you were testing this API in a "Staging" environment versus a "Local" environment, how would you change the dbConfig in server.js to ensure sensitive credentials are not leaked in your GitHub history?</a:t>
                      </a:r>
                    </a:p>
                  </a:txBody>
                  <a:tcPr marL="211288" marR="126773" marT="126773" marB="12677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Credentials should be stored using environment variables instead of hardcoding them.</a:t>
                      </a:r>
                      <a:endParaRPr lang="en-US" sz="1500" b="1" cap="none" spc="0">
                        <a:solidFill>
                          <a:srgbClr val="FFFFFF"/>
                        </a:solidFill>
                      </a:endParaRPr>
                    </a:p>
                  </a:txBody>
                  <a:tcPr marL="211288" marR="126773" marT="126773" marB="12677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698590"/>
                  </a:ext>
                </a:extLst>
              </a:tr>
              <a:tr h="1197610">
                <a:tc>
                  <a:txBody>
                    <a:bodyPr/>
                    <a:lstStyle/>
                    <a:p>
                      <a:r>
                        <a:rPr lang="en-ZA" sz="15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 3 Question: Identify a specific data type used in the database tables that is problematic for banking. Provide a SQL example of why this specific choice is a defect.</a:t>
                      </a:r>
                    </a:p>
                  </a:txBody>
                  <a:tcPr marL="211288" marR="126773" marT="126773" marB="126773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Using the FLOAT data type for financial values can cause rounding errors. The correct type is DECIMAL(18,2).</a:t>
                      </a:r>
                      <a:endParaRPr lang="en-US" sz="1500" b="1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11288" marR="126773" marT="126773" marB="12677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682377"/>
                  </a:ext>
                </a:extLst>
              </a:tr>
              <a:tr h="1197610">
                <a:tc>
                  <a:txBody>
                    <a:bodyPr/>
                    <a:lstStyle/>
                    <a:p>
                      <a:r>
                        <a:rPr lang="en-ZA" sz="1500" b="1" kern="12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Task 4 Question: If the system crashed mid-transaction, which table is most likely to end up with "Dirty Data" based on the current logic? How would you fix this?</a:t>
                      </a:r>
                    </a:p>
                  </a:txBody>
                  <a:tcPr marL="211288" marR="126773" marT="126773" marB="126773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If the system crashes during a transaction, the TransactionLedger table may contain dirty data. Using database transactions can prevent this issue.</a:t>
                      </a:r>
                      <a:endParaRPr lang="en-US" sz="1500" b="1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11288" marR="126773" marT="126773" marB="126773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828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451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427</Words>
  <Application>Microsoft Office PowerPoint</Application>
  <PresentationFormat>Widescreen</PresentationFormat>
  <Paragraphs>33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Century Gothic</vt:lpstr>
      <vt:lpstr>Wingdings</vt:lpstr>
      <vt:lpstr>Wingdings 3</vt:lpstr>
      <vt:lpstr>Ion</vt:lpstr>
      <vt:lpstr>KOBO FINTECH QE PROJECT</vt:lpstr>
      <vt:lpstr>Team Workflow and Git Contributions</vt:lpstr>
      <vt:lpstr>Postman Automation demo and results</vt:lpstr>
      <vt:lpstr>Postman Automation demo and results</vt:lpstr>
      <vt:lpstr>Red Flag SQL Query</vt:lpstr>
      <vt:lpstr>Top 3 System Flaws Discovered</vt:lpstr>
      <vt:lpstr>Answers to Task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KHANGWENI MULOVHEDZI</dc:creator>
  <cp:lastModifiedBy>KHANGWENI MULOVHEDZI</cp:lastModifiedBy>
  <cp:revision>5</cp:revision>
  <dcterms:created xsi:type="dcterms:W3CDTF">2026-03-08T19:36:53Z</dcterms:created>
  <dcterms:modified xsi:type="dcterms:W3CDTF">2026-03-08T21:30:27Z</dcterms:modified>
</cp:coreProperties>
</file>